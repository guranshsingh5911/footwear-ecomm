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68" r:id="rId2"/>
    <p:sldId id="267" r:id="rId3"/>
    <p:sldId id="271" r:id="rId4"/>
    <p:sldId id="273" r:id="rId5"/>
    <p:sldId id="272" r:id="rId6"/>
    <p:sldId id="280" r:id="rId7"/>
    <p:sldId id="282" r:id="rId8"/>
    <p:sldId id="283" r:id="rId9"/>
    <p:sldId id="284" r:id="rId10"/>
    <p:sldId id="286" r:id="rId11"/>
    <p:sldId id="287" r:id="rId12"/>
    <p:sldId id="274" r:id="rId13"/>
    <p:sldId id="275" r:id="rId14"/>
    <p:sldId id="289" r:id="rId15"/>
    <p:sldId id="278" r:id="rId16"/>
    <p:sldId id="279" r:id="rId17"/>
    <p:sldId id="265"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vi" initials="R" lastIdx="1" clrIdx="0">
    <p:extLst>
      <p:ext uri="{19B8F6BF-5375-455C-9EA6-DF929625EA0E}">
        <p15:presenceInfo xmlns:p15="http://schemas.microsoft.com/office/powerpoint/2012/main" userId="Rav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12" autoAdjust="0"/>
    <p:restoredTop sz="94660"/>
  </p:normalViewPr>
  <p:slideViewPr>
    <p:cSldViewPr>
      <p:cViewPr varScale="1">
        <p:scale>
          <a:sx n="69" d="100"/>
          <a:sy n="69" d="100"/>
        </p:scale>
        <p:origin x="1428"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3-06T10:00:55.637" idx="1">
    <p:pos x="10" y="10"/>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5BB0C6-8FC1-47C0-B737-D54E21B5B868}" type="datetimeFigureOut">
              <a:rPr lang="en-US" smtClean="0"/>
              <a:pPr/>
              <a:t>3/6/2025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3"/>
          <p:cNvSpPr>
            <a:spLocks noGrp="1"/>
          </p:cNvSpPr>
          <p:nvPr>
            <p:ph type="dt" sz="half" idx="10"/>
          </p:nvPr>
        </p:nvSpPr>
        <p:spPr/>
        <p:txBody>
          <a:bodyPr/>
          <a:lstStyle>
            <a:lvl1pPr>
              <a:defRPr/>
            </a:lvl1pPr>
          </a:lstStyle>
          <a:p>
            <a:fld id="{1D5BB0C6-8FC1-47C0-B737-D54E21B5B868}" type="datetimeFigureOut">
              <a:rPr lang="en-US" smtClean="0"/>
              <a:pPr/>
              <a:t>3/6/2025</a:t>
            </a:fld>
            <a:endParaRPr lang="en-US"/>
          </a:p>
        </p:txBody>
      </p:sp>
      <p:sp>
        <p:nvSpPr>
          <p:cNvPr id="11" name="Footer Placeholder 4"/>
          <p:cNvSpPr>
            <a:spLocks noGrp="1"/>
          </p:cNvSpPr>
          <p:nvPr>
            <p:ph type="ftr" sz="quarter" idx="11"/>
          </p:nvPr>
        </p:nvSpPr>
        <p:spPr/>
        <p:txBody>
          <a:bodyPr/>
          <a:lstStyle>
            <a:lvl1pPr>
              <a:defRPr/>
            </a:lvl1pPr>
          </a:lstStyle>
          <a:p>
            <a:endParaRPr lang="en-US"/>
          </a:p>
        </p:txBody>
      </p:sp>
      <p:sp>
        <p:nvSpPr>
          <p:cNvPr id="12"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5BB0C6-8FC1-47C0-B737-D54E21B5B868}" type="datetimeFigureOut">
              <a:rPr lang="en-US" smtClean="0"/>
              <a:pPr/>
              <a:t>3/6/2025</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887D6-2A35-42AC-99C1-5E14D32EE4CF}" type="slidenum">
              <a:rPr lang="en-US" smtClean="0"/>
              <a:pPr/>
              <a:t>‹#›</a:t>
            </a:fld>
            <a:endParaRPr lang="en-US"/>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US"/>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0070C0"/>
                </a:solidFill>
                <a:latin typeface="Times New Roman" pitchFamily="18" charset="0"/>
                <a:cs typeface="Times New Roman" pitchFamily="18" charset="0"/>
              </a:defRPr>
            </a:lvl1pPr>
          </a:lstStyle>
          <a:p>
            <a:fld id="{1D5BB0C6-8FC1-47C0-B737-D54E21B5B868}" type="datetimeFigureOut">
              <a:rPr lang="en-US" smtClean="0"/>
              <a:pPr/>
              <a:t>3/6/2025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0070C0"/>
                </a:solidFill>
                <a:latin typeface="Times New Roman" pitchFamily="18" charset="0"/>
                <a:ea typeface="ＭＳ Ｐゴシック" charset="-128"/>
                <a:cs typeface="Times New Roman"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0070C0"/>
                </a:solidFill>
                <a:latin typeface="Times New Roman" pitchFamily="18" charset="0"/>
                <a:cs typeface="Times New Roman" pitchFamily="18" charset="0"/>
              </a:defRPr>
            </a:lvl1pPr>
          </a:lstStyle>
          <a:p>
            <a:fld id="{0F8887D6-2A35-42AC-99C1-5E14D32EE4CF}" type="slidenum">
              <a:rPr lang="en-US" smtClean="0"/>
              <a:pPr/>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2"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5"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6"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transition advTm="4000">
    <p:cut/>
  </p:transition>
  <p:timing>
    <p:tnLst>
      <p:par>
        <p:cTn id="1" dur="indefinite" restart="never" nodeType="tmRoot"/>
      </p:par>
    </p:tnLst>
  </p:timing>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www.w3schools.com/" TargetMode="External"/><Relationship Id="rId2" Type="http://schemas.openxmlformats.org/officeDocument/2006/relationships/hyperlink" Target="https://dev.mysql.com/doc/"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87624" y="1494946"/>
            <a:ext cx="6624736" cy="1200329"/>
          </a:xfrm>
          <a:prstGeom prst="rect">
            <a:avLst/>
          </a:prstGeom>
          <a:noFill/>
        </p:spPr>
        <p:txBody>
          <a:bodyPr wrap="square" rtlCol="0">
            <a:spAutoFit/>
          </a:bodyPr>
          <a:lstStyle/>
          <a:p>
            <a:pPr algn="ctr"/>
            <a:r>
              <a:rPr lang="en-US" sz="3600" dirty="0" smtClean="0">
                <a:solidFill>
                  <a:srgbClr val="FF0000"/>
                </a:solidFill>
                <a:latin typeface="Arial Black" pitchFamily="34" charset="0"/>
              </a:rPr>
              <a:t>Full Stack Engineering</a:t>
            </a:r>
          </a:p>
          <a:p>
            <a:pPr algn="ctr"/>
            <a:r>
              <a:rPr lang="en-US" sz="3600" dirty="0" smtClean="0">
                <a:solidFill>
                  <a:srgbClr val="FF0000"/>
                </a:solidFill>
                <a:latin typeface="Arial Black" pitchFamily="34" charset="0"/>
              </a:rPr>
              <a:t>Project</a:t>
            </a:r>
            <a:endParaRPr lang="en-US" sz="3600" dirty="0">
              <a:solidFill>
                <a:srgbClr val="FF0000"/>
              </a:solidFill>
              <a:latin typeface="Arial Black" pitchFamily="34" charset="0"/>
            </a:endParaRPr>
          </a:p>
        </p:txBody>
      </p:sp>
      <p:sp>
        <p:nvSpPr>
          <p:cNvPr id="5" name="TextBox 4"/>
          <p:cNvSpPr txBox="1"/>
          <p:nvPr/>
        </p:nvSpPr>
        <p:spPr>
          <a:xfrm>
            <a:off x="3275856" y="4653136"/>
            <a:ext cx="255198" cy="954107"/>
          </a:xfrm>
          <a:prstGeom prst="rect">
            <a:avLst/>
          </a:prstGeom>
          <a:noFill/>
        </p:spPr>
        <p:txBody>
          <a:bodyPr wrap="none" rtlCol="0">
            <a:spAutoFit/>
          </a:bodyPr>
          <a:lstStyle/>
          <a:p>
            <a:r>
              <a:rPr lang="en-US" sz="2000" dirty="0" smtClean="0">
                <a:latin typeface="Times New Roman" pitchFamily="18" charset="0"/>
                <a:cs typeface="Times New Roman" pitchFamily="18" charset="0"/>
              </a:rPr>
              <a:t>:</a:t>
            </a:r>
          </a:p>
          <a:p>
            <a:endParaRPr lang="en-US" dirty="0" smtClean="0"/>
          </a:p>
          <a:p>
            <a:endParaRPr lang="en-US" dirty="0"/>
          </a:p>
        </p:txBody>
      </p:sp>
      <p:sp>
        <p:nvSpPr>
          <p:cNvPr id="6" name="TextBox 5">
            <a:extLst>
              <a:ext uri="{FF2B5EF4-FFF2-40B4-BE49-F238E27FC236}">
                <a16:creationId xmlns:a16="http://schemas.microsoft.com/office/drawing/2014/main" id="{39596CC0-0544-9FD2-7AFD-B23ECB7AE8F4}"/>
              </a:ext>
            </a:extLst>
          </p:cNvPr>
          <p:cNvSpPr txBox="1"/>
          <p:nvPr/>
        </p:nvSpPr>
        <p:spPr>
          <a:xfrm>
            <a:off x="1943708" y="2755495"/>
            <a:ext cx="5112568" cy="2492990"/>
          </a:xfrm>
          <a:prstGeom prst="rect">
            <a:avLst/>
          </a:prstGeom>
          <a:solidFill>
            <a:schemeClr val="accent6">
              <a:lumMod val="60000"/>
              <a:lumOff val="40000"/>
            </a:schemeClr>
          </a:solidFill>
        </p:spPr>
        <p:txBody>
          <a:bodyPr wrap="square" rtlCol="0">
            <a:spAutoFit/>
          </a:bodyPr>
          <a:lstStyle/>
          <a:p>
            <a:r>
              <a:rPr lang="en-US" sz="2000" dirty="0"/>
              <a:t>Team </a:t>
            </a:r>
            <a:r>
              <a:rPr lang="en-US" sz="2000" dirty="0" smtClean="0"/>
              <a:t>Details:</a:t>
            </a:r>
          </a:p>
          <a:p>
            <a:r>
              <a:rPr lang="en-US" sz="2000" dirty="0" err="1" smtClean="0"/>
              <a:t>Gracy</a:t>
            </a:r>
            <a:r>
              <a:rPr lang="en-US" sz="2000" dirty="0" smtClean="0"/>
              <a:t> Gulati(2210990331)</a:t>
            </a:r>
          </a:p>
          <a:p>
            <a:r>
              <a:rPr lang="en-US" sz="2000" dirty="0" smtClean="0"/>
              <a:t>Gunn Arora(22210990333)</a:t>
            </a:r>
          </a:p>
          <a:p>
            <a:r>
              <a:rPr lang="en-US" sz="2000" dirty="0" err="1"/>
              <a:t>Guransh</a:t>
            </a:r>
            <a:r>
              <a:rPr lang="en-US" sz="2000" dirty="0"/>
              <a:t> Singh(2210990335</a:t>
            </a:r>
            <a:r>
              <a:rPr lang="en-US" sz="2000" dirty="0" smtClean="0"/>
              <a:t>)</a:t>
            </a:r>
          </a:p>
          <a:p>
            <a:r>
              <a:rPr lang="en-US" sz="2000" dirty="0" err="1" smtClean="0"/>
              <a:t>Prachi</a:t>
            </a:r>
            <a:r>
              <a:rPr lang="en-US" sz="2000" dirty="0" smtClean="0"/>
              <a:t> Malik (2210990661)</a:t>
            </a:r>
          </a:p>
          <a:p>
            <a:endParaRPr lang="en-US" dirty="0">
              <a:solidFill>
                <a:schemeClr val="bg1"/>
              </a:solidFill>
            </a:endParaRPr>
          </a:p>
          <a:p>
            <a:r>
              <a:rPr lang="en-US" sz="2000" dirty="0" smtClean="0">
                <a:latin typeface="Times New Roman" pitchFamily="18" charset="0"/>
                <a:cs typeface="Times New Roman" pitchFamily="18" charset="0"/>
              </a:rPr>
              <a:t>Faculty Coordinator: </a:t>
            </a:r>
            <a:r>
              <a:rPr lang="en-US" sz="2000" dirty="0" err="1" smtClean="0">
                <a:latin typeface="Times New Roman" pitchFamily="18" charset="0"/>
                <a:cs typeface="Times New Roman" pitchFamily="18" charset="0"/>
              </a:rPr>
              <a:t>Shaffu</a:t>
            </a:r>
            <a:endParaRPr lang="en-US" dirty="0">
              <a:solidFill>
                <a:schemeClr val="bg1"/>
              </a:solidFill>
            </a:endParaRPr>
          </a:p>
          <a:p>
            <a:endParaRPr lang="en-US" dirty="0">
              <a:solidFill>
                <a:schemeClr val="bg1"/>
              </a:solidFill>
            </a:endParaRPr>
          </a:p>
        </p:txBody>
      </p:sp>
      <p:sp>
        <p:nvSpPr>
          <p:cNvPr id="9" name="TextBox 8"/>
          <p:cNvSpPr txBox="1"/>
          <p:nvPr/>
        </p:nvSpPr>
        <p:spPr>
          <a:xfrm>
            <a:off x="1187624" y="5661248"/>
            <a:ext cx="6947095" cy="707886"/>
          </a:xfrm>
          <a:prstGeom prst="rect">
            <a:avLst/>
          </a:prstGeom>
          <a:noFill/>
        </p:spPr>
        <p:txBody>
          <a:bodyPr wrap="none" rtlCol="0">
            <a:spAutoFit/>
          </a:bodyPr>
          <a:lstStyle/>
          <a:p>
            <a:r>
              <a:rPr lang="en-US" sz="2000" b="1" dirty="0" err="1" smtClean="0">
                <a:solidFill>
                  <a:srgbClr val="FF0000"/>
                </a:solidFill>
                <a:latin typeface="Times New Roman" pitchFamily="18" charset="0"/>
                <a:cs typeface="Times New Roman" pitchFamily="18" charset="0"/>
              </a:rPr>
              <a:t>Chitkara</a:t>
            </a:r>
            <a:r>
              <a:rPr lang="en-US" sz="2000" b="1" dirty="0" smtClean="0">
                <a:solidFill>
                  <a:srgbClr val="FF0000"/>
                </a:solidFill>
                <a:latin typeface="Times New Roman" pitchFamily="18" charset="0"/>
                <a:cs typeface="Times New Roman" pitchFamily="18" charset="0"/>
              </a:rPr>
              <a:t> University Institute of Engineering and Technology, </a:t>
            </a:r>
          </a:p>
          <a:p>
            <a:pPr algn="ctr"/>
            <a:r>
              <a:rPr lang="en-US" sz="2000" b="1" dirty="0" err="1" smtClean="0">
                <a:solidFill>
                  <a:srgbClr val="FF0000"/>
                </a:solidFill>
                <a:latin typeface="Times New Roman" pitchFamily="18" charset="0"/>
                <a:cs typeface="Times New Roman" pitchFamily="18" charset="0"/>
              </a:rPr>
              <a:t>Chitkara</a:t>
            </a:r>
            <a:r>
              <a:rPr lang="en-US" sz="2000" b="1" dirty="0" smtClean="0">
                <a:solidFill>
                  <a:srgbClr val="FF0000"/>
                </a:solidFill>
                <a:latin typeface="Times New Roman" pitchFamily="18" charset="0"/>
                <a:cs typeface="Times New Roman" pitchFamily="18" charset="0"/>
              </a:rPr>
              <a:t> University, Punjab</a:t>
            </a:r>
            <a:endParaRPr lang="en-US" sz="2000" b="1" dirty="0">
              <a:solidFill>
                <a:srgbClr val="FF0000"/>
              </a:solidFill>
              <a:latin typeface="Times New Roman" pitchFamily="18" charset="0"/>
              <a:cs typeface="Times New Roman" pitchFamily="18" charset="0"/>
            </a:endParaRPr>
          </a:p>
        </p:txBody>
      </p:sp>
    </p:spTree>
  </p:cSld>
  <p:clrMapOvr>
    <a:masterClrMapping/>
  </p:clrMapOvr>
  <p:transition advTm="4000">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smtClean="0">
                <a:latin typeface="Times New Roman" pitchFamily="18" charset="0"/>
                <a:cs typeface="Times New Roman" pitchFamily="18" charset="0"/>
              </a:rPr>
              <a:t>Table of Contents</a:t>
            </a:r>
            <a:endParaRPr lang="en-US" dirty="0">
              <a:latin typeface="Times New Roman" pitchFamily="18" charset="0"/>
              <a:cs typeface="Times New Roman" pitchFamily="18" charset="0"/>
            </a:endParaRPr>
          </a:p>
        </p:txBody>
      </p:sp>
      <p:sp>
        <p:nvSpPr>
          <p:cNvPr id="3" name="TextBox 2"/>
          <p:cNvSpPr txBox="1"/>
          <p:nvPr/>
        </p:nvSpPr>
        <p:spPr>
          <a:xfrm>
            <a:off x="444708" y="1196752"/>
            <a:ext cx="6912768" cy="3970318"/>
          </a:xfrm>
          <a:prstGeom prst="rect">
            <a:avLst/>
          </a:prstGeom>
          <a:noFill/>
        </p:spPr>
        <p:txBody>
          <a:bodyPr wrap="square" rtlCol="0">
            <a:spAutoFit/>
          </a:bodyPr>
          <a:lstStyle/>
          <a:p>
            <a:pPr>
              <a:buFont typeface="Arial" pitchFamily="34" charset="0"/>
              <a:buChar char="•"/>
            </a:pPr>
            <a:r>
              <a:rPr lang="en-US" sz="2800" dirty="0" smtClean="0">
                <a:latin typeface="Times New Roman" pitchFamily="18" charset="0"/>
                <a:cs typeface="Times New Roman" pitchFamily="18" charset="0"/>
              </a:rPr>
              <a:t>Introduction</a:t>
            </a:r>
          </a:p>
          <a:p>
            <a:pPr>
              <a:buFont typeface="Arial" pitchFamily="34" charset="0"/>
              <a:buChar char="•"/>
            </a:pPr>
            <a:r>
              <a:rPr lang="en-US" sz="2800" dirty="0" smtClean="0">
                <a:latin typeface="Times New Roman" pitchFamily="18" charset="0"/>
                <a:cs typeface="Times New Roman" pitchFamily="18" charset="0"/>
              </a:rPr>
              <a:t>Problem Statement</a:t>
            </a:r>
          </a:p>
          <a:p>
            <a:pPr>
              <a:buFont typeface="Arial" pitchFamily="34" charset="0"/>
              <a:buChar char="•"/>
            </a:pPr>
            <a:r>
              <a:rPr lang="en-US" sz="2800" dirty="0" smtClean="0">
                <a:latin typeface="Times New Roman" pitchFamily="18" charset="0"/>
                <a:cs typeface="Times New Roman" pitchFamily="18" charset="0"/>
              </a:rPr>
              <a:t>Technical Details</a:t>
            </a:r>
          </a:p>
          <a:p>
            <a:pPr>
              <a:buFont typeface="Arial" pitchFamily="34" charset="0"/>
              <a:buChar char="•"/>
            </a:pPr>
            <a:r>
              <a:rPr lang="en-US" sz="2800" dirty="0" smtClean="0">
                <a:latin typeface="Times New Roman" pitchFamily="18" charset="0"/>
                <a:cs typeface="Times New Roman" pitchFamily="18" charset="0"/>
              </a:rPr>
              <a:t>Key Features </a:t>
            </a:r>
          </a:p>
          <a:p>
            <a:pPr>
              <a:buFont typeface="Arial" pitchFamily="34" charset="0"/>
              <a:buChar char="•"/>
            </a:pPr>
            <a:r>
              <a:rPr lang="en-US" sz="2800" dirty="0" smtClean="0">
                <a:latin typeface="Times New Roman" pitchFamily="18" charset="0"/>
                <a:cs typeface="Times New Roman" pitchFamily="18" charset="0"/>
              </a:rPr>
              <a:t>Project Highlights</a:t>
            </a:r>
          </a:p>
          <a:p>
            <a:pPr>
              <a:buFont typeface="Arial" pitchFamily="34" charset="0"/>
              <a:buChar char="•"/>
            </a:pPr>
            <a:r>
              <a:rPr lang="en-US" sz="2800" dirty="0" smtClean="0">
                <a:latin typeface="Times New Roman" pitchFamily="18" charset="0"/>
                <a:cs typeface="Times New Roman" pitchFamily="18" charset="0"/>
              </a:rPr>
              <a:t>Conclusion</a:t>
            </a:r>
          </a:p>
          <a:p>
            <a:pPr>
              <a:buFont typeface="Arial" pitchFamily="34" charset="0"/>
              <a:buChar char="•"/>
            </a:pPr>
            <a:r>
              <a:rPr lang="en-US" sz="2800" dirty="0" smtClean="0">
                <a:latin typeface="Times New Roman" pitchFamily="18" charset="0"/>
                <a:cs typeface="Times New Roman" pitchFamily="18" charset="0"/>
              </a:rPr>
              <a:t>References/Links used</a:t>
            </a:r>
          </a:p>
          <a:p>
            <a:pPr>
              <a:buFont typeface="Arial" pitchFamily="34" charset="0"/>
              <a:buChar char="•"/>
            </a:pPr>
            <a:endParaRPr lang="en-US" sz="2800" dirty="0" smtClean="0">
              <a:latin typeface="Times New Roman" pitchFamily="18" charset="0"/>
              <a:cs typeface="Times New Roman" pitchFamily="18" charset="0"/>
            </a:endParaRPr>
          </a:p>
          <a:p>
            <a:pPr>
              <a:buFont typeface="Arial" pitchFamily="34" charset="0"/>
              <a:buChar char="•"/>
            </a:pPr>
            <a:endParaRPr lang="en-US" sz="2800" dirty="0">
              <a:latin typeface="Times New Roman" pitchFamily="18" charset="0"/>
              <a:cs typeface="Times New Roman" pitchFamily="18" charset="0"/>
            </a:endParaRPr>
          </a:p>
        </p:txBody>
      </p:sp>
    </p:spTree>
  </p:cSld>
  <p:clrMapOvr>
    <a:masterClrMapping/>
  </p:clrMapOvr>
  <p:transition advTm="4000">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smtClean="0">
                <a:latin typeface="Times New Roman" pitchFamily="18" charset="0"/>
                <a:cs typeface="Times New Roman" pitchFamily="18" charset="0"/>
              </a:rPr>
              <a:t>Introduction</a:t>
            </a:r>
          </a:p>
        </p:txBody>
      </p:sp>
      <p:sp>
        <p:nvSpPr>
          <p:cNvPr id="4" name="Rectangle 1"/>
          <p:cNvSpPr>
            <a:spLocks noChangeArrowheads="1"/>
          </p:cNvSpPr>
          <p:nvPr/>
        </p:nvSpPr>
        <p:spPr bwMode="auto">
          <a:xfrm>
            <a:off x="611560" y="1268760"/>
            <a:ext cx="7776864"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E-commerce has revolutionized the footwear industry, offering customers convenience, variety, and seamless shopping experiences. Online stores provide a vast selection of shoes, from casual sneakers to luxury footwear, catering to diverse styles and budgets. Advanced features like virtual try-ons, size guides, and customer reviews help buyers make informed decisions. Businesses use AI-driven recommendations, personalized marketing, and efficient return policies to enhance customer satisfaction. With fast deliveries and secure payment options, online footwear shopping continues to grow, making it easier than ever to find the perfect pair. The future of footwear e-commerce is driven by innovation, accessibility, and customer-centric solutions.</a:t>
            </a:r>
          </a:p>
        </p:txBody>
      </p:sp>
    </p:spTree>
  </p:cSld>
  <p:clrMapOvr>
    <a:masterClrMapping/>
  </p:clrMapOvr>
  <p:transition advTm="4000">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smtClean="0">
                <a:latin typeface="Times New Roman" pitchFamily="18" charset="0"/>
                <a:cs typeface="Times New Roman" pitchFamily="18" charset="0"/>
              </a:rPr>
              <a:t>Problem Statement</a:t>
            </a:r>
          </a:p>
        </p:txBody>
      </p:sp>
      <p:sp>
        <p:nvSpPr>
          <p:cNvPr id="4" name="Rectangle 1"/>
          <p:cNvSpPr>
            <a:spLocks noChangeArrowheads="1"/>
          </p:cNvSpPr>
          <p:nvPr/>
        </p:nvSpPr>
        <p:spPr bwMode="auto">
          <a:xfrm>
            <a:off x="539552" y="1268760"/>
            <a:ext cx="8102299"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footwear industry faces challenges in providing a seamless online shopping experience due to issues like inaccurate size selection, limited personalization, and high return rates. Customers often struggle with finding the right fit, leading to dissatisfaction and product returns. Additionally, a lack of detailed product descriptions, virtual try-ons, and customer support affects user confidence. Businesses also face difficulties in managing inventory, optimizing logistics, and ensuring a smooth checkout process. To address these challenges, an e-commerce footwear platform needs to offer an intuitive interface, AI-driven recommendations, virtual try-ons, and efficient order management to enhance user experience and increase conversions.</a:t>
            </a:r>
          </a:p>
        </p:txBody>
      </p:sp>
    </p:spTree>
  </p:cSld>
  <p:clrMapOvr>
    <a:masterClrMapping/>
  </p:clrMapOvr>
  <p:transition advTm="4000">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smtClean="0">
                <a:latin typeface="Times New Roman" pitchFamily="18" charset="0"/>
                <a:cs typeface="Times New Roman" pitchFamily="18" charset="0"/>
              </a:rPr>
              <a:t>Technical Details</a:t>
            </a:r>
          </a:p>
        </p:txBody>
      </p:sp>
      <p:sp>
        <p:nvSpPr>
          <p:cNvPr id="4" name="Rectangle 1"/>
          <p:cNvSpPr>
            <a:spLocks noChangeArrowheads="1"/>
          </p:cNvSpPr>
          <p:nvPr/>
        </p:nvSpPr>
        <p:spPr bwMode="auto">
          <a:xfrm>
            <a:off x="539552" y="1268760"/>
            <a:ext cx="802838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Frontend</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React.js – Dynamic and responsive user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Backend</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Node.js with Express.js – Scalable and efficient server-side logic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Database</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MySQL – Secure and structured data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State Management</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Context API/</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Redux</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Smooth data flow and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API</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RESTful APIs – Seamless communication between frontend and backend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Hosting &amp; Deployment</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Vercel</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Netlify</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frontend, AWS/</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DigitalOcean</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backend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Payment Integration</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Razorpay</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/Stripe – Secure online transactions</a:t>
            </a:r>
          </a:p>
        </p:txBody>
      </p:sp>
    </p:spTree>
  </p:cSld>
  <p:clrMapOvr>
    <a:masterClrMapping/>
  </p:clrMapOvr>
  <p:transition advTm="4000">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6300" y="13855"/>
            <a:ext cx="5486400" cy="914400"/>
          </a:xfrm>
        </p:spPr>
        <p:txBody>
          <a:bodyPr/>
          <a:lstStyle/>
          <a:p>
            <a:r>
              <a:rPr lang="en-US" b="0" dirty="0" smtClean="0"/>
              <a:t>Technical Details</a:t>
            </a:r>
            <a:endParaRPr lang="en-US" b="0" dirty="0"/>
          </a:p>
        </p:txBody>
      </p:sp>
      <p:sp>
        <p:nvSpPr>
          <p:cNvPr id="3" name="Subtitle 2"/>
          <p:cNvSpPr>
            <a:spLocks noGrp="1"/>
          </p:cNvSpPr>
          <p:nvPr>
            <p:ph type="subTitle" idx="1"/>
          </p:nvPr>
        </p:nvSpPr>
        <p:spPr>
          <a:xfrm>
            <a:off x="533400" y="1268760"/>
            <a:ext cx="8153400" cy="4724400"/>
          </a:xfrm>
        </p:spPr>
        <p:txBody>
          <a:bodyPr/>
          <a:lstStyle/>
          <a:p>
            <a:pPr algn="l" eaLnBrk="0" hangingPunct="0">
              <a:spcBef>
                <a:spcPct val="0"/>
              </a:spcBef>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Version Control</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Git</a:t>
            </a:r>
            <a:r>
              <a:rPr lang="en-US" altLang="en-US" sz="2400" dirty="0">
                <a:solidFill>
                  <a:schemeClr val="tx1"/>
                </a:solidFill>
                <a:latin typeface="Times New Roman" panose="02020603050405020304" pitchFamily="18" charset="0"/>
                <a:cs typeface="Times New Roman" panose="02020603050405020304" pitchFamily="18" charset="0"/>
              </a:rPr>
              <a:t> &amp; GitHub – Code management and collaboration </a:t>
            </a:r>
            <a:endParaRPr lang="en-US" altLang="en-US" sz="2400" b="1" dirty="0" smtClean="0">
              <a:solidFill>
                <a:schemeClr val="tx1"/>
              </a:solidFill>
              <a:latin typeface="Times New Roman" panose="02020603050405020304" pitchFamily="18" charset="0"/>
              <a:cs typeface="Times New Roman" panose="02020603050405020304" pitchFamily="18" charset="0"/>
            </a:endParaRPr>
          </a:p>
          <a:p>
            <a:pPr lvl="0" algn="l" eaLnBrk="0" hangingPunct="0">
              <a:spcBef>
                <a:spcPct val="0"/>
              </a:spcBef>
              <a:buFontTx/>
              <a:buChar char="•"/>
            </a:pPr>
            <a:r>
              <a:rPr lang="en-US" altLang="en-US" sz="2400" b="1" dirty="0" smtClean="0">
                <a:solidFill>
                  <a:schemeClr val="tx1"/>
                </a:solidFill>
                <a:latin typeface="Times New Roman" panose="02020603050405020304" pitchFamily="18" charset="0"/>
                <a:cs typeface="Times New Roman" panose="02020603050405020304" pitchFamily="18" charset="0"/>
              </a:rPr>
              <a:t>Authentication</a:t>
            </a:r>
            <a:r>
              <a:rPr lang="en-US" altLang="en-US" sz="2400" dirty="0">
                <a:solidFill>
                  <a:schemeClr val="tx1"/>
                </a:solidFill>
                <a:latin typeface="Times New Roman" panose="02020603050405020304" pitchFamily="18" charset="0"/>
                <a:cs typeface="Times New Roman" panose="02020603050405020304" pitchFamily="18" charset="0"/>
              </a:rPr>
              <a:t>: JWT or OAuth – User authentication and security</a:t>
            </a:r>
          </a:p>
        </p:txBody>
      </p:sp>
    </p:spTree>
    <p:extLst>
      <p:ext uri="{BB962C8B-B14F-4D97-AF65-F5344CB8AC3E}">
        <p14:creationId xmlns:p14="http://schemas.microsoft.com/office/powerpoint/2010/main" val="1234563804"/>
      </p:ext>
    </p:extLst>
  </p:cSld>
  <p:clrMapOvr>
    <a:masterClrMapping/>
  </p:clrMapOvr>
  <p:transition advTm="4000">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6300" y="0"/>
            <a:ext cx="5486400" cy="914400"/>
          </a:xfrm>
        </p:spPr>
        <p:txBody>
          <a:bodyPr/>
          <a:lstStyle/>
          <a:p>
            <a:r>
              <a:rPr lang="en-US" b="0" dirty="0" smtClean="0"/>
              <a:t>Screenshots</a:t>
            </a:r>
            <a:endParaRPr lang="en-US" b="0" dirty="0"/>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213520"/>
            <a:ext cx="7999040" cy="5040560"/>
          </a:xfrm>
          <a:prstGeom prst="rect">
            <a:avLst/>
          </a:prstGeom>
        </p:spPr>
      </p:pic>
    </p:spTree>
    <p:extLst>
      <p:ext uri="{BB962C8B-B14F-4D97-AF65-F5344CB8AC3E}">
        <p14:creationId xmlns:p14="http://schemas.microsoft.com/office/powerpoint/2010/main" val="1982406410"/>
      </p:ext>
    </p:extLst>
  </p:cSld>
  <p:clrMapOvr>
    <a:masterClrMapping/>
  </p:clrMapOvr>
  <p:transition advTm="4000">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6300" y="0"/>
            <a:ext cx="5486400" cy="914400"/>
          </a:xfrm>
        </p:spPr>
        <p:txBody>
          <a:bodyPr/>
          <a:lstStyle/>
          <a:p>
            <a:r>
              <a:rPr lang="en-US" b="0" dirty="0" smtClean="0"/>
              <a:t>Screenshots</a:t>
            </a:r>
            <a:endParaRPr lang="en-US" b="0" dirty="0"/>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1268760"/>
            <a:ext cx="8291264" cy="5113402"/>
          </a:xfrm>
          <a:prstGeom prst="rect">
            <a:avLst/>
          </a:prstGeom>
        </p:spPr>
      </p:pic>
    </p:spTree>
    <p:extLst>
      <p:ext uri="{BB962C8B-B14F-4D97-AF65-F5344CB8AC3E}">
        <p14:creationId xmlns:p14="http://schemas.microsoft.com/office/powerpoint/2010/main" val="62517102"/>
      </p:ext>
    </p:extLst>
  </p:cSld>
  <p:clrMapOvr>
    <a:masterClrMapping/>
  </p:clrMapOvr>
  <p:transition advTm="4000">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6300" y="0"/>
            <a:ext cx="5486400" cy="914400"/>
          </a:xfrm>
        </p:spPr>
        <p:txBody>
          <a:bodyPr/>
          <a:lstStyle/>
          <a:p>
            <a:r>
              <a:rPr lang="en-US" b="0" dirty="0" smtClean="0"/>
              <a:t>Screenshots</a:t>
            </a:r>
            <a:endParaRPr lang="en-US" b="0" dirty="0"/>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1196752"/>
            <a:ext cx="8291264" cy="5184576"/>
          </a:xfrm>
          <a:prstGeom prst="rect">
            <a:avLst/>
          </a:prstGeom>
        </p:spPr>
      </p:pic>
    </p:spTree>
    <p:extLst>
      <p:ext uri="{BB962C8B-B14F-4D97-AF65-F5344CB8AC3E}">
        <p14:creationId xmlns:p14="http://schemas.microsoft.com/office/powerpoint/2010/main" val="757109414"/>
      </p:ext>
    </p:extLst>
  </p:cSld>
  <p:clrMapOvr>
    <a:masterClrMapping/>
  </p:clrMapOvr>
  <p:transition advTm="4000">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6300" y="0"/>
            <a:ext cx="5486400" cy="914400"/>
          </a:xfrm>
        </p:spPr>
        <p:txBody>
          <a:bodyPr/>
          <a:lstStyle/>
          <a:p>
            <a:r>
              <a:rPr lang="en-US" b="0" dirty="0" smtClean="0"/>
              <a:t>Screenshots</a:t>
            </a:r>
            <a:endParaRPr lang="en-US" b="0" dirty="0"/>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196752"/>
            <a:ext cx="8071048" cy="5184576"/>
          </a:xfrm>
          <a:prstGeom prst="rect">
            <a:avLst/>
          </a:prstGeom>
        </p:spPr>
      </p:pic>
    </p:spTree>
    <p:extLst>
      <p:ext uri="{BB962C8B-B14F-4D97-AF65-F5344CB8AC3E}">
        <p14:creationId xmlns:p14="http://schemas.microsoft.com/office/powerpoint/2010/main" val="3317983517"/>
      </p:ext>
    </p:extLst>
  </p:cSld>
  <p:clrMapOvr>
    <a:masterClrMapping/>
  </p:clrMapOvr>
  <p:transition advTm="4000">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6300" y="0"/>
            <a:ext cx="5486400" cy="914400"/>
          </a:xfrm>
        </p:spPr>
        <p:txBody>
          <a:bodyPr/>
          <a:lstStyle/>
          <a:p>
            <a:r>
              <a:rPr lang="en-US" b="0" dirty="0" smtClean="0"/>
              <a:t>Screenshots</a:t>
            </a:r>
            <a:endParaRPr lang="en-US" b="0" dirty="0"/>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1268760"/>
            <a:ext cx="8291264" cy="5040561"/>
          </a:xfrm>
          <a:prstGeom prst="rect">
            <a:avLst/>
          </a:prstGeom>
        </p:spPr>
      </p:pic>
    </p:spTree>
    <p:extLst>
      <p:ext uri="{BB962C8B-B14F-4D97-AF65-F5344CB8AC3E}">
        <p14:creationId xmlns:p14="http://schemas.microsoft.com/office/powerpoint/2010/main" val="2206075944"/>
      </p:ext>
    </p:extLst>
  </p:cSld>
  <p:clrMapOvr>
    <a:masterClrMapping/>
  </p:clrMapOvr>
  <p:transition advTm="4000">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smtClean="0">
                <a:latin typeface="Times New Roman" pitchFamily="18" charset="0"/>
                <a:cs typeface="Times New Roman" pitchFamily="18" charset="0"/>
              </a:rPr>
              <a:t>Key Features</a:t>
            </a:r>
          </a:p>
        </p:txBody>
      </p:sp>
      <p:sp>
        <p:nvSpPr>
          <p:cNvPr id="4" name="Rectangle 1"/>
          <p:cNvSpPr>
            <a:spLocks noChangeArrowheads="1"/>
          </p:cNvSpPr>
          <p:nvPr/>
        </p:nvSpPr>
        <p:spPr bwMode="auto">
          <a:xfrm>
            <a:off x="467544" y="1052736"/>
            <a:ext cx="576064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Wide Collection</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Various styles and brands.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Secure Checkout</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Multiple payment options.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Customer Reviews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Ratings and feedback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Easy Navigation</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Smooth browsing and filtering.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Fast Delivery</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Reliable shipping services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Easy Returns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Hassle-free exchanges and refunds.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Personalized Recommendations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AI-driven suggestions.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Exclusive Deals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Discounts and offers.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ransition advTm="4000">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smtClean="0">
                <a:latin typeface="Times New Roman" pitchFamily="18" charset="0"/>
                <a:cs typeface="Times New Roman" pitchFamily="18" charset="0"/>
              </a:rPr>
              <a:t>Project Highlights</a:t>
            </a:r>
          </a:p>
        </p:txBody>
      </p:sp>
      <p:sp>
        <p:nvSpPr>
          <p:cNvPr id="4" name="Rectangle 1"/>
          <p:cNvSpPr>
            <a:spLocks noChangeArrowheads="1"/>
          </p:cNvSpPr>
          <p:nvPr/>
        </p:nvSpPr>
        <p:spPr bwMode="auto">
          <a:xfrm>
            <a:off x="467544" y="1268760"/>
            <a:ext cx="792088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User-Friendly Interface</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Simple and intuitive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Privacy &amp; Security</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Robust data protection and encryption.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Secure Digital Vault</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Safely store and manage digital assets.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Time Capsule Feature</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Schedule memories for future release.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Storytelling</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Preserve family history through text and audio.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Recipe &amp; Post Management</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Organize and share cherished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Public Gallery</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Showcase shared moments in one place.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Seamless Sharing</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Pass down digital heirlooms effortlessly.</a:t>
            </a:r>
          </a:p>
        </p:txBody>
      </p:sp>
    </p:spTree>
  </p:cSld>
  <p:clrMapOvr>
    <a:masterClrMapping/>
  </p:clrMapOvr>
  <p:transition advTm="4000">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0568" y="0"/>
            <a:ext cx="5486400" cy="914400"/>
          </a:xfrm>
        </p:spPr>
        <p:txBody>
          <a:bodyPr/>
          <a:lstStyle/>
          <a:p>
            <a:r>
              <a:rPr lang="en-US" b="0" dirty="0" smtClean="0"/>
              <a:t>Project Hierarchy</a:t>
            </a:r>
            <a:endParaRPr lang="en-US" b="0" dirty="0"/>
          </a:p>
        </p:txBody>
      </p:sp>
      <p:sp>
        <p:nvSpPr>
          <p:cNvPr id="3" name="Subtitle 2"/>
          <p:cNvSpPr>
            <a:spLocks noGrp="1"/>
          </p:cNvSpPr>
          <p:nvPr>
            <p:ph type="subTitle" idx="1"/>
          </p:nvPr>
        </p:nvSpPr>
        <p:spPr/>
        <p:txBody>
          <a:bodyPr/>
          <a:lstStyle/>
          <a:p>
            <a:endParaRPr 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8312" t="9799" r="14460" b="7469"/>
          <a:stretch/>
        </p:blipFill>
        <p:spPr>
          <a:xfrm>
            <a:off x="533400" y="1365742"/>
            <a:ext cx="8153400" cy="4890939"/>
          </a:xfrm>
          <a:prstGeom prst="rect">
            <a:avLst/>
          </a:prstGeom>
        </p:spPr>
      </p:pic>
    </p:spTree>
    <p:extLst>
      <p:ext uri="{BB962C8B-B14F-4D97-AF65-F5344CB8AC3E}">
        <p14:creationId xmlns:p14="http://schemas.microsoft.com/office/powerpoint/2010/main" val="2443007803"/>
      </p:ext>
    </p:extLst>
  </p:cSld>
  <p:clrMapOvr>
    <a:masterClrMapping/>
  </p:clrMapOvr>
  <p:transition advTm="4000">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smtClean="0">
                <a:latin typeface="Times New Roman" pitchFamily="18" charset="0"/>
                <a:cs typeface="Times New Roman" pitchFamily="18" charset="0"/>
              </a:rPr>
              <a:t>Conclusion</a:t>
            </a:r>
          </a:p>
        </p:txBody>
      </p:sp>
      <p:sp>
        <p:nvSpPr>
          <p:cNvPr id="4" name="Rectangle 1"/>
          <p:cNvSpPr>
            <a:spLocks noChangeArrowheads="1"/>
          </p:cNvSpPr>
          <p:nvPr/>
        </p:nvSpPr>
        <p:spPr bwMode="auto">
          <a:xfrm>
            <a:off x="467544" y="1268760"/>
            <a:ext cx="7668344"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Our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eCommerce</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footwear platform offers a seamless shopping experience with a wide collection of styles, secure transactions, and fast delivery. With user-friendly navigation, customer reviews, and easy returns, we ensure convenience and satisfaction. By combining quality, affordability, and exclusive deals, we aim to be the go-to destination for all footwear needs.</a:t>
            </a:r>
          </a:p>
        </p:txBody>
      </p:sp>
    </p:spTree>
  </p:cSld>
  <p:clrMapOvr>
    <a:masterClrMapping/>
  </p:clrMapOvr>
  <p:transition advTm="4000">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smtClean="0">
                <a:latin typeface="Times New Roman" pitchFamily="18" charset="0"/>
                <a:cs typeface="Times New Roman" pitchFamily="18" charset="0"/>
              </a:rPr>
              <a:t>References/Links used</a:t>
            </a:r>
          </a:p>
        </p:txBody>
      </p:sp>
      <p:sp>
        <p:nvSpPr>
          <p:cNvPr id="3" name="Rectangle 2"/>
          <p:cNvSpPr/>
          <p:nvPr/>
        </p:nvSpPr>
        <p:spPr>
          <a:xfrm>
            <a:off x="539552" y="1268760"/>
            <a:ext cx="8136904" cy="1938992"/>
          </a:xfrm>
          <a:prstGeom prst="rect">
            <a:avLst/>
          </a:prstGeom>
        </p:spPr>
        <p:txBody>
          <a:bodyPr wrap="square">
            <a:spAutoFit/>
          </a:bodyPr>
          <a:lstStyle/>
          <a:p>
            <a:pPr>
              <a:buFont typeface="Arial" pitchFamily="34" charset="0"/>
              <a:buChar char="•"/>
            </a:pPr>
            <a:r>
              <a:rPr lang="en-US" sz="2400" dirty="0">
                <a:latin typeface="Times New Roman" pitchFamily="18" charset="0"/>
                <a:cs typeface="Times New Roman" pitchFamily="18" charset="0"/>
              </a:rPr>
              <a:t>React </a:t>
            </a:r>
            <a:r>
              <a:rPr lang="en-US" sz="2400" dirty="0" err="1">
                <a:latin typeface="Times New Roman" pitchFamily="18" charset="0"/>
                <a:cs typeface="Times New Roman" pitchFamily="18" charset="0"/>
              </a:rPr>
              <a:t>js</a:t>
            </a:r>
            <a:r>
              <a:rPr lang="en-US" sz="2400" dirty="0" smtClean="0">
                <a:latin typeface="Times New Roman" pitchFamily="18" charset="0"/>
                <a:cs typeface="Times New Roman" pitchFamily="18" charset="0"/>
              </a:rPr>
              <a:t>: https</a:t>
            </a:r>
            <a:r>
              <a:rPr lang="en-US" sz="2400" dirty="0">
                <a:latin typeface="Times New Roman" pitchFamily="18" charset="0"/>
                <a:cs typeface="Times New Roman" pitchFamily="18" charset="0"/>
              </a:rPr>
              <a:t>://</a:t>
            </a:r>
            <a:r>
              <a:rPr lang="en-US" sz="2400" dirty="0" smtClean="0">
                <a:latin typeface="Times New Roman" pitchFamily="18" charset="0"/>
                <a:cs typeface="Times New Roman" pitchFamily="18" charset="0"/>
              </a:rPr>
              <a:t>react.dev</a:t>
            </a:r>
          </a:p>
          <a:p>
            <a:pPr>
              <a:buFont typeface="Arial" pitchFamily="34" charset="0"/>
              <a:buChar char="•"/>
            </a:pPr>
            <a:r>
              <a:rPr lang="en-US" sz="2400" dirty="0" smtClean="0">
                <a:latin typeface="Times New Roman" pitchFamily="18" charset="0"/>
                <a:cs typeface="Times New Roman" pitchFamily="18" charset="0"/>
              </a:rPr>
              <a:t>Node </a:t>
            </a:r>
            <a:r>
              <a:rPr lang="en-US" sz="2400" dirty="0" err="1" smtClean="0">
                <a:latin typeface="Times New Roman" pitchFamily="18" charset="0"/>
                <a:cs typeface="Times New Roman" pitchFamily="18" charset="0"/>
              </a:rPr>
              <a:t>js</a:t>
            </a:r>
            <a:r>
              <a:rPr lang="en-US" sz="2400" dirty="0">
                <a:latin typeface="Times New Roman" pitchFamily="18" charset="0"/>
                <a:cs typeface="Times New Roman" pitchFamily="18" charset="0"/>
              </a:rPr>
              <a:t>: https://nodejs.org/en</a:t>
            </a:r>
            <a:endParaRPr lang="en-US" sz="2400" dirty="0" smtClean="0">
              <a:latin typeface="Times New Roman" pitchFamily="18" charset="0"/>
              <a:cs typeface="Times New Roman" pitchFamily="18" charset="0"/>
            </a:endParaRPr>
          </a:p>
          <a:p>
            <a:pPr>
              <a:buFont typeface="Arial" pitchFamily="34" charset="0"/>
              <a:buChar char="•"/>
            </a:pPr>
            <a:r>
              <a:rPr lang="en-US" sz="2400" dirty="0">
                <a:latin typeface="Times New Roman" pitchFamily="18" charset="0"/>
                <a:cs typeface="Times New Roman" pitchFamily="18" charset="0"/>
              </a:rPr>
              <a:t>MySQL: </a:t>
            </a:r>
            <a:r>
              <a:rPr lang="en-US" sz="2400" dirty="0">
                <a:latin typeface="Times New Roman" pitchFamily="18" charset="0"/>
                <a:cs typeface="Times New Roman" pitchFamily="18" charset="0"/>
                <a:hlinkClick r:id="rId2"/>
              </a:rPr>
              <a:t>https://</a:t>
            </a:r>
            <a:r>
              <a:rPr lang="en-US" sz="2400" dirty="0" smtClean="0">
                <a:latin typeface="Times New Roman" pitchFamily="18" charset="0"/>
                <a:cs typeface="Times New Roman" pitchFamily="18" charset="0"/>
                <a:hlinkClick r:id="rId2"/>
              </a:rPr>
              <a:t>dev.mysql.com/doc/</a:t>
            </a:r>
            <a:endParaRPr lang="en-US" sz="2400" dirty="0">
              <a:latin typeface="Times New Roman" pitchFamily="18" charset="0"/>
              <a:cs typeface="Times New Roman" pitchFamily="18" charset="0"/>
            </a:endParaRPr>
          </a:p>
          <a:p>
            <a:pPr>
              <a:buFont typeface="Arial" pitchFamily="34" charset="0"/>
              <a:buChar char="•"/>
            </a:pPr>
            <a:r>
              <a:rPr lang="en-US" sz="2400" dirty="0" smtClean="0">
                <a:latin typeface="Times New Roman" pitchFamily="18" charset="0"/>
                <a:cs typeface="Times New Roman" pitchFamily="18" charset="0"/>
              </a:rPr>
              <a:t>W3schools</a:t>
            </a:r>
            <a:r>
              <a:rPr lang="en-US" sz="2400" dirty="0">
                <a:latin typeface="Times New Roman" pitchFamily="18" charset="0"/>
                <a:cs typeface="Times New Roman" pitchFamily="18" charset="0"/>
              </a:rPr>
              <a:t>: </a:t>
            </a:r>
            <a:r>
              <a:rPr lang="en-US" sz="2400" dirty="0">
                <a:latin typeface="Times New Roman" pitchFamily="18" charset="0"/>
                <a:cs typeface="Times New Roman" pitchFamily="18" charset="0"/>
                <a:hlinkClick r:id="rId3"/>
              </a:rPr>
              <a:t>https://</a:t>
            </a:r>
            <a:r>
              <a:rPr lang="en-US" sz="2400" dirty="0" smtClean="0">
                <a:latin typeface="Times New Roman" pitchFamily="18" charset="0"/>
                <a:cs typeface="Times New Roman" pitchFamily="18" charset="0"/>
                <a:hlinkClick r:id="rId3"/>
              </a:rPr>
              <a:t>www.w3schools.com</a:t>
            </a:r>
            <a:endParaRPr lang="en-US" sz="2400" dirty="0" smtClean="0">
              <a:latin typeface="Times New Roman" pitchFamily="18" charset="0"/>
              <a:cs typeface="Times New Roman" pitchFamily="18" charset="0"/>
            </a:endParaRPr>
          </a:p>
          <a:p>
            <a:pPr>
              <a:buFont typeface="Arial" pitchFamily="34" charset="0"/>
              <a:buChar char="•"/>
            </a:pPr>
            <a:r>
              <a:rPr lang="en-US" sz="2400" dirty="0" smtClean="0">
                <a:latin typeface="Times New Roman" pitchFamily="18" charset="0"/>
                <a:cs typeface="Times New Roman" pitchFamily="18" charset="0"/>
              </a:rPr>
              <a:t>Geek </a:t>
            </a:r>
            <a:r>
              <a:rPr lang="en-US" sz="2400" dirty="0">
                <a:latin typeface="Times New Roman" pitchFamily="18" charset="0"/>
                <a:cs typeface="Times New Roman" pitchFamily="18" charset="0"/>
              </a:rPr>
              <a:t>for geeks: https://</a:t>
            </a:r>
            <a:r>
              <a:rPr lang="en-US" sz="2400" dirty="0" smtClean="0">
                <a:latin typeface="Times New Roman" pitchFamily="18" charset="0"/>
                <a:cs typeface="Times New Roman" pitchFamily="18" charset="0"/>
              </a:rPr>
              <a:t>www.geeksforgeeks.org</a:t>
            </a:r>
          </a:p>
        </p:txBody>
      </p:sp>
    </p:spTree>
  </p:cSld>
  <p:clrMapOvr>
    <a:masterClrMapping/>
  </p:clrMapOvr>
  <p:transition advTm="4000">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AutoShape 4"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4" name="Picture 10" descr="Thank you cards Images | Free Vectors, Stock Photos &amp; PSD"/>
          <p:cNvPicPr>
            <a:picLocks noChangeAspect="1" noChangeArrowheads="1"/>
          </p:cNvPicPr>
          <p:nvPr/>
        </p:nvPicPr>
        <p:blipFill>
          <a:blip r:embed="rId2" cstate="print"/>
          <a:srcRect/>
          <a:stretch>
            <a:fillRect/>
          </a:stretch>
        </p:blipFill>
        <p:spPr bwMode="auto">
          <a:xfrm>
            <a:off x="0" y="857232"/>
            <a:ext cx="9144000" cy="5786478"/>
          </a:xfrm>
          <a:prstGeom prst="rect">
            <a:avLst/>
          </a:prstGeom>
          <a:noFill/>
        </p:spPr>
      </p:pic>
    </p:spTree>
  </p:cSld>
  <p:clrMapOvr>
    <a:masterClrMapping/>
  </p:clrMapOvr>
  <p:transition advTm="4000">
    <p:cut/>
  </p:transition>
  <p:timing>
    <p:tnLst>
      <p:par>
        <p:cTn id="1" dur="indefinite" restart="never" nodeType="tmRoot"/>
      </p:par>
    </p:tnLst>
  </p:timing>
</p:sld>
</file>

<file path=ppt/theme/theme1.xml><?xml version="1.0" encoding="utf-8"?>
<a:theme xmlns:a="http://schemas.openxmlformats.org/drawingml/2006/main" name="Bubble S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676</TotalTime>
  <Words>625</Words>
  <Application>Microsoft Office PowerPoint</Application>
  <PresentationFormat>On-screen Show (4:3)</PresentationFormat>
  <Paragraphs>69</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MS PGothic</vt:lpstr>
      <vt:lpstr>MS PGothic</vt:lpstr>
      <vt:lpstr>Arial</vt:lpstr>
      <vt:lpstr>Arial Black</vt:lpstr>
      <vt:lpstr>Calibri</vt:lpstr>
      <vt:lpstr>Times New Roman</vt:lpstr>
      <vt:lpstr>Bubble Sort</vt:lpstr>
      <vt:lpstr>PowerPoint Presentation</vt:lpstr>
      <vt:lpstr>PowerPoint Presentation</vt:lpstr>
      <vt:lpstr>PowerPoint Presentation</vt:lpstr>
      <vt:lpstr>PowerPoint Presentation</vt:lpstr>
      <vt:lpstr>PowerPoint Presentation</vt:lpstr>
      <vt:lpstr>Technical Details</vt:lpstr>
      <vt:lpstr>Screenshots</vt:lpstr>
      <vt:lpstr>Screenshots</vt:lpstr>
      <vt:lpstr>Screenshots</vt:lpstr>
      <vt:lpstr>Screenshots</vt:lpstr>
      <vt:lpstr>Screenshots</vt:lpstr>
      <vt:lpstr>PowerPoint Presentation</vt:lpstr>
      <vt:lpstr>PowerPoint Presentation</vt:lpstr>
      <vt:lpstr>Project Hierarchy</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Ravi</cp:lastModifiedBy>
  <cp:revision>49</cp:revision>
  <dcterms:created xsi:type="dcterms:W3CDTF">2022-12-12T14:14:34Z</dcterms:created>
  <dcterms:modified xsi:type="dcterms:W3CDTF">2025-03-06T05:21:06Z</dcterms:modified>
</cp:coreProperties>
</file>